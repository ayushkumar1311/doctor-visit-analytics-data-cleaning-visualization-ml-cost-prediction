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7"/>
  </p:notesMasterIdLst>
  <p:handoutMasterIdLst>
    <p:handoutMasterId r:id="rId18"/>
  </p:handoutMasterIdLst>
  <p:sldIdLst>
    <p:sldId id="338" r:id="rId5"/>
    <p:sldId id="327" r:id="rId6"/>
    <p:sldId id="315" r:id="rId7"/>
    <p:sldId id="329" r:id="rId8"/>
    <p:sldId id="302" r:id="rId9"/>
    <p:sldId id="339" r:id="rId10"/>
    <p:sldId id="342" r:id="rId11"/>
    <p:sldId id="341" r:id="rId12"/>
    <p:sldId id="340" r:id="rId13"/>
    <p:sldId id="343" r:id="rId14"/>
    <p:sldId id="344" r:id="rId15"/>
    <p:sldId id="304"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111" d="100"/>
          <a:sy n="111" d="100"/>
        </p:scale>
        <p:origin x="474" y="96"/>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9/18/2026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9/18/2026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9/18/2026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9/18/2026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9/18/2026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507293" y="3564030"/>
            <a:ext cx="3400089" cy="1913744"/>
          </a:xfrm>
        </p:spPr>
        <p:txBody>
          <a:bodyPr>
            <a:noAutofit/>
          </a:bodyPr>
          <a:lstStyle/>
          <a:p>
            <a:r>
              <a:rPr lang="en-US" sz="1800" dirty="0"/>
              <a:t>Name:</a:t>
            </a:r>
            <a:r>
              <a:rPr lang="en-US" sz="1800" b="0" dirty="0"/>
              <a:t> Ayush Kumar</a:t>
            </a:r>
          </a:p>
          <a:p>
            <a:r>
              <a:rPr lang="en-US" sz="1800" dirty="0"/>
              <a:t>Course / Batch:</a:t>
            </a:r>
            <a:r>
              <a:rPr lang="en-US" sz="1800" b="0" dirty="0"/>
              <a:t> VOIS AICTE Batch 1 (2026-2027)</a:t>
            </a:r>
          </a:p>
          <a:p>
            <a:r>
              <a:rPr lang="en-US" sz="1800" dirty="0"/>
              <a:t>Student Id:</a:t>
            </a:r>
            <a:r>
              <a:rPr lang="en-US" sz="1800" b="0" dirty="0"/>
              <a:t> STU6a624b1fd56521784826655</a:t>
            </a: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438283" y="2685552"/>
            <a:ext cx="4998720" cy="743448"/>
          </a:xfrm>
        </p:spPr>
        <p:txBody>
          <a:bodyPr>
            <a:normAutofit/>
          </a:bodyPr>
          <a:lstStyle/>
          <a:p>
            <a:r>
              <a:rPr lang="en-IN" sz="3200" dirty="0"/>
              <a:t>Doctor Visit Analytics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grpId="0" nodeType="clickEffect">
                                  <p:stCondLst>
                                    <p:cond delay="0"/>
                                  </p:stCondLst>
                                  <p:childTnLst>
                                    <p:set>
                                      <p:cBhvr>
                                        <p:cTn id="41" dur="1" fill="hold">
                                          <p:stCondLst>
                                            <p:cond delay="0"/>
                                          </p:stCondLst>
                                        </p:cTn>
                                        <p:tgtEl>
                                          <p:spTgt spid="2">
                                            <p:txEl>
                                              <p:pRg st="2" end="2"/>
                                            </p:txEl>
                                          </p:spTgt>
                                        </p:tgtEl>
                                        <p:attrNameLst>
                                          <p:attrName>style.visibility</p:attrName>
                                        </p:attrNameLst>
                                      </p:cBhvr>
                                      <p:to>
                                        <p:strVal val="visible"/>
                                      </p:to>
                                    </p:set>
                                    <p:animEffect transition="in" filter="randombar(horizontal)">
                                      <p:cBhvr>
                                        <p:cTn id="42"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79" y="1875556"/>
            <a:ext cx="6544765" cy="3947274"/>
          </a:xfrm>
        </p:spPr>
        <p:txBody>
          <a:bodyPr>
            <a:normAutofit fontScale="92500" lnSpcReduction="10000"/>
          </a:bodyPr>
          <a:lstStyle/>
          <a:p>
            <a:pPr>
              <a:lnSpc>
                <a:spcPct val="150000"/>
              </a:lnSpc>
            </a:pPr>
            <a:r>
              <a:rPr lang="en-US" dirty="0"/>
              <a:t>Healthcare operational managers face significant challenges due to unmonitored patient wait times, unpredictable medical visit costs, and inefficient allocation of medical staff across specialties. Without actionable data insights, clinics experience extended wait times, inconsistent billing patterns, and unbalanced resource distribution—ultimately leading to reduced patient satisfaction and administrative inefficiencies.</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7" name="TextBox 6">
            <a:extLst>
              <a:ext uri="{FF2B5EF4-FFF2-40B4-BE49-F238E27FC236}">
                <a16:creationId xmlns:a16="http://schemas.microsoft.com/office/drawing/2014/main" id="{193446E2-51BC-04C7-9671-15270363C620}"/>
              </a:ext>
            </a:extLst>
          </p:cNvPr>
          <p:cNvSpPr txBox="1"/>
          <p:nvPr/>
        </p:nvSpPr>
        <p:spPr>
          <a:xfrm>
            <a:off x="660398" y="2049827"/>
            <a:ext cx="7327661" cy="3416320"/>
          </a:xfrm>
          <a:prstGeom prst="rect">
            <a:avLst/>
          </a:prstGeom>
          <a:noFill/>
        </p:spPr>
        <p:txBody>
          <a:bodyPr wrap="square" rtlCol="0">
            <a:spAutoFit/>
          </a:bodyPr>
          <a:lstStyle/>
          <a:p>
            <a:r>
              <a:rPr lang="en-US" dirty="0"/>
              <a:t>The </a:t>
            </a:r>
            <a:r>
              <a:rPr lang="en-IN" sz="1800" b="1" dirty="0"/>
              <a:t>Doctor Visit Analytics</a:t>
            </a:r>
            <a:r>
              <a:rPr lang="en-US" dirty="0"/>
              <a:t> is an end-to-end Python-based data science solution developed in Google </a:t>
            </a:r>
            <a:r>
              <a:rPr lang="en-US" dirty="0" err="1"/>
              <a:t>Colab</a:t>
            </a:r>
            <a:r>
              <a:rPr lang="en-US" dirty="0"/>
              <a:t>. Designed to address key administrative and financial challenges in modern healthcare settings, this project transforms raw, unorganized patient visit records into high-value operational insights and predictive financial intelligence.</a:t>
            </a:r>
          </a:p>
          <a:p>
            <a:endParaRPr lang="en-US" dirty="0"/>
          </a:p>
          <a:p>
            <a:r>
              <a:rPr lang="en-US" dirty="0"/>
              <a:t>The pipeline spans the entire data lifecycle: generating synthetic clinical datasets, executing systematic data cleaning and sanitization, building dynamic interactive visualizations with </a:t>
            </a:r>
            <a:r>
              <a:rPr lang="en-US" dirty="0" err="1"/>
              <a:t>Plotly</a:t>
            </a:r>
            <a:r>
              <a:rPr lang="en-US" dirty="0"/>
              <a:t>, and training a Random Forest Regressor to forecast doctor visit costs.</a:t>
            </a:r>
          </a:p>
          <a:p>
            <a:endParaRPr lang="en-IN"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47500" lnSpcReduction="20000"/>
          </a:bodyPr>
          <a:lstStyle/>
          <a:p>
            <a:pPr marL="0" indent="0">
              <a:buNone/>
            </a:pPr>
            <a:r>
              <a:rPr lang="en-US" sz="3600" dirty="0"/>
              <a:t>The primary end users for the </a:t>
            </a:r>
            <a:r>
              <a:rPr lang="en-US" sz="3600" b="1" dirty="0"/>
              <a:t>Healthcare Analytics for Doctor Visits</a:t>
            </a:r>
            <a:r>
              <a:rPr lang="en-US" sz="3600" dirty="0"/>
              <a:t> project fall into four key stakeholder groups:</a:t>
            </a:r>
          </a:p>
          <a:p>
            <a:r>
              <a:rPr lang="en-US" sz="3600" b="1" dirty="0"/>
              <a:t>Healthcare Operations &amp; Clinic Managers:</a:t>
            </a:r>
            <a:r>
              <a:rPr lang="en-US" sz="3600" dirty="0"/>
              <a:t> Monitor patient wait times, track daily visit volumes per specialty, and optimize staffing schedules to reduce queue bottlenecks.</a:t>
            </a:r>
          </a:p>
          <a:p>
            <a:r>
              <a:rPr lang="en-US" sz="3600" b="1" dirty="0"/>
              <a:t>Hospital Executive Leadership:</a:t>
            </a:r>
            <a:r>
              <a:rPr lang="en-US" sz="3600" dirty="0"/>
              <a:t> Review high-level departmental trends, financial performance summaries, and overall facility capacity metrics to guide strategic planning.</a:t>
            </a:r>
          </a:p>
          <a:p>
            <a:r>
              <a:rPr lang="en-US" sz="3600" b="1" dirty="0"/>
              <a:t>Billing &amp; Financial Analysts:</a:t>
            </a:r>
            <a:r>
              <a:rPr lang="en-US" sz="3600" dirty="0"/>
              <a:t> Analyze medical cost distributions across specialties and leverage machine learning predictions to improve billing transparency and price estimations.</a:t>
            </a:r>
          </a:p>
          <a:p>
            <a:r>
              <a:rPr lang="en-US" sz="3600" b="1" dirty="0"/>
              <a:t>Data Analysts &amp; Health Informatics Teams:</a:t>
            </a:r>
            <a:r>
              <a:rPr lang="en-US" sz="3600" dirty="0"/>
              <a:t> Maintain the data engineering pipeline, run quality assurance checks on incoming clinical data, and expand machine learning models for deeper operational insights.</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
        <p:nvSpPr>
          <p:cNvPr id="3" name="Rectangle 1">
            <a:extLst>
              <a:ext uri="{FF2B5EF4-FFF2-40B4-BE49-F238E27FC236}">
                <a16:creationId xmlns:a16="http://schemas.microsoft.com/office/drawing/2014/main" id="{2FD1D8AE-8565-A224-3679-1FD71D181B80}"/>
              </a:ext>
            </a:extLst>
          </p:cNvPr>
          <p:cNvSpPr>
            <a:spLocks noGrp="1" noChangeArrowheads="1"/>
          </p:cNvSpPr>
          <p:nvPr>
            <p:ph type="body" sz="quarter" idx="12"/>
          </p:nvPr>
        </p:nvSpPr>
        <p:spPr bwMode="auto">
          <a:xfrm>
            <a:off x="467359" y="1885321"/>
            <a:ext cx="8650762"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Language &amp; Environment:</a:t>
            </a:r>
            <a:r>
              <a:rPr kumimoji="0" lang="en-US" altLang="en-US" sz="1800" b="0" i="0" u="none" strike="noStrike" cap="none" normalizeH="0" baseline="0" dirty="0">
                <a:ln>
                  <a:noFill/>
                </a:ln>
                <a:solidFill>
                  <a:schemeClr val="tx1"/>
                </a:solidFill>
                <a:effectLst/>
                <a:latin typeface="Arial" panose="020B0604020202020204" pitchFamily="34" charset="0"/>
              </a:rPr>
              <a:t> Python 3.x, Google </a:t>
            </a:r>
            <a:r>
              <a:rPr kumimoji="0" lang="en-US" altLang="en-US" sz="1800" b="0" i="0" u="none" strike="noStrike" cap="none" normalizeH="0" baseline="0" dirty="0" err="1">
                <a:ln>
                  <a:noFill/>
                </a:ln>
                <a:solidFill>
                  <a:schemeClr val="tx1"/>
                </a:solidFill>
                <a:effectLst/>
                <a:latin typeface="Arial" panose="020B0604020202020204" pitchFamily="34" charset="0"/>
              </a:rPr>
              <a:t>Colab</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Data Manipulation: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Unicode MS"/>
              </a:rPr>
              <a:t>pandas</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err="1">
                <a:ln>
                  <a:noFill/>
                </a:ln>
                <a:solidFill>
                  <a:schemeClr val="tx1"/>
                </a:solidFill>
                <a:effectLst/>
                <a:latin typeface="Arial Unicode MS"/>
              </a:rPr>
              <a:t>numpy</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Visualization: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Unicode MS"/>
              </a:rPr>
              <a:t>plotly</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a:ln>
                  <a:noFill/>
                </a:ln>
                <a:solidFill>
                  <a:schemeClr val="tx1"/>
                </a:solidFill>
                <a:effectLst/>
                <a:latin typeface="Arial Unicode MS"/>
              </a:rPr>
              <a:t>matplotlib</a:t>
            </a:r>
            <a:r>
              <a:rPr kumimoji="0" lang="en-US" altLang="en-US" sz="1800" b="0" i="0" u="none" strike="noStrike" cap="none" normalizeH="0" baseline="0" dirty="0">
                <a:ln>
                  <a:noFill/>
                </a:ln>
                <a:solidFill>
                  <a:schemeClr val="tx1"/>
                </a:solidFill>
                <a:effectLst/>
              </a:rPr>
              <a:t>, </a:t>
            </a:r>
            <a:r>
              <a:rPr kumimoji="0" lang="en-US" altLang="en-US" sz="1800" b="0" i="0" u="none" strike="noStrike" cap="none" normalizeH="0" baseline="0" dirty="0">
                <a:ln>
                  <a:noFill/>
                </a:ln>
                <a:solidFill>
                  <a:schemeClr val="tx1"/>
                </a:solidFill>
                <a:effectLst/>
                <a:latin typeface="Arial Unicode MS"/>
              </a:rPr>
              <a:t>seaborn</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Machine Learning: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Unicode MS"/>
              </a:rPr>
              <a:t>scikit-learn</a:t>
            </a:r>
            <a:r>
              <a:rPr kumimoji="0" lang="en-US" altLang="en-US" sz="1800" b="0" i="0" u="none" strike="noStrike" cap="none" normalizeH="0" baseline="0" dirty="0">
                <a:ln>
                  <a:noFill/>
                </a:ln>
                <a:solidFill>
                  <a:schemeClr val="tx1"/>
                </a:solidFill>
                <a:effectLst/>
              </a:rPr>
              <a:t> (Random Forest Regressor, Train-Test Split, Model Evaluation Metrics)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1" name="Picture 10">
            <a:extLst>
              <a:ext uri="{FF2B5EF4-FFF2-40B4-BE49-F238E27FC236}">
                <a16:creationId xmlns:a16="http://schemas.microsoft.com/office/drawing/2014/main" id="{CE16045E-0BAF-966C-7C55-8FA0254F9A93}"/>
              </a:ext>
            </a:extLst>
          </p:cNvPr>
          <p:cNvPicPr>
            <a:picLocks noChangeAspect="1"/>
          </p:cNvPicPr>
          <p:nvPr/>
        </p:nvPicPr>
        <p:blipFill>
          <a:blip r:embed="rId3"/>
          <a:stretch>
            <a:fillRect/>
          </a:stretch>
        </p:blipFill>
        <p:spPr>
          <a:xfrm>
            <a:off x="6511898" y="656315"/>
            <a:ext cx="5463397" cy="2047312"/>
          </a:xfrm>
          <a:prstGeom prst="rect">
            <a:avLst/>
          </a:prstGeom>
        </p:spPr>
      </p:pic>
      <p:pic>
        <p:nvPicPr>
          <p:cNvPr id="13" name="Picture 12">
            <a:extLst>
              <a:ext uri="{FF2B5EF4-FFF2-40B4-BE49-F238E27FC236}">
                <a16:creationId xmlns:a16="http://schemas.microsoft.com/office/drawing/2014/main" id="{5849157B-5EDE-2138-782C-56A0CE4DD85A}"/>
              </a:ext>
            </a:extLst>
          </p:cNvPr>
          <p:cNvPicPr>
            <a:picLocks noChangeAspect="1"/>
          </p:cNvPicPr>
          <p:nvPr/>
        </p:nvPicPr>
        <p:blipFill>
          <a:blip r:embed="rId4"/>
          <a:stretch>
            <a:fillRect/>
          </a:stretch>
        </p:blipFill>
        <p:spPr>
          <a:xfrm>
            <a:off x="6485259" y="370589"/>
            <a:ext cx="5463396" cy="2047311"/>
          </a:xfrm>
          <a:prstGeom prst="rect">
            <a:avLst/>
          </a:prstGeom>
        </p:spPr>
      </p:pic>
      <p:pic>
        <p:nvPicPr>
          <p:cNvPr id="15" name="Picture 14">
            <a:extLst>
              <a:ext uri="{FF2B5EF4-FFF2-40B4-BE49-F238E27FC236}">
                <a16:creationId xmlns:a16="http://schemas.microsoft.com/office/drawing/2014/main" id="{BA082D65-5402-AFF4-AED4-7638448916AC}"/>
              </a:ext>
            </a:extLst>
          </p:cNvPr>
          <p:cNvPicPr>
            <a:picLocks noChangeAspect="1"/>
          </p:cNvPicPr>
          <p:nvPr/>
        </p:nvPicPr>
        <p:blipFill>
          <a:blip r:embed="rId5"/>
          <a:stretch>
            <a:fillRect/>
          </a:stretch>
        </p:blipFill>
        <p:spPr>
          <a:xfrm>
            <a:off x="6562897" y="504784"/>
            <a:ext cx="5308121" cy="1989125"/>
          </a:xfrm>
          <a:prstGeom prst="rect">
            <a:avLst/>
          </a:prstGeom>
        </p:spPr>
      </p:pic>
      <p:pic>
        <p:nvPicPr>
          <p:cNvPr id="17" name="Picture 16">
            <a:extLst>
              <a:ext uri="{FF2B5EF4-FFF2-40B4-BE49-F238E27FC236}">
                <a16:creationId xmlns:a16="http://schemas.microsoft.com/office/drawing/2014/main" id="{520AB5B2-4834-ABAD-9C0A-EF08ADB4B5C7}"/>
              </a:ext>
            </a:extLst>
          </p:cNvPr>
          <p:cNvPicPr>
            <a:picLocks noChangeAspect="1"/>
          </p:cNvPicPr>
          <p:nvPr/>
        </p:nvPicPr>
        <p:blipFill>
          <a:blip r:embed="rId6"/>
          <a:stretch>
            <a:fillRect/>
          </a:stretch>
        </p:blipFill>
        <p:spPr>
          <a:xfrm>
            <a:off x="6718182" y="411527"/>
            <a:ext cx="5463396" cy="2047311"/>
          </a:xfrm>
          <a:prstGeom prst="rect">
            <a:avLst/>
          </a:prstGeom>
        </p:spPr>
      </p:pic>
      <p:pic>
        <p:nvPicPr>
          <p:cNvPr id="19" name="Picture 18">
            <a:extLst>
              <a:ext uri="{FF2B5EF4-FFF2-40B4-BE49-F238E27FC236}">
                <a16:creationId xmlns:a16="http://schemas.microsoft.com/office/drawing/2014/main" id="{4E91B91A-FB50-7BE8-DEF2-9E2A801236C3}"/>
              </a:ext>
            </a:extLst>
          </p:cNvPr>
          <p:cNvPicPr>
            <a:picLocks noChangeAspect="1"/>
          </p:cNvPicPr>
          <p:nvPr/>
        </p:nvPicPr>
        <p:blipFill>
          <a:blip r:embed="rId7"/>
          <a:stretch>
            <a:fillRect/>
          </a:stretch>
        </p:blipFill>
        <p:spPr>
          <a:xfrm>
            <a:off x="6929706" y="376456"/>
            <a:ext cx="5198591" cy="1948080"/>
          </a:xfrm>
          <a:prstGeom prst="rect">
            <a:avLst/>
          </a:prstGeom>
        </p:spPr>
      </p:pic>
      <p:pic>
        <p:nvPicPr>
          <p:cNvPr id="21" name="Picture 20">
            <a:extLst>
              <a:ext uri="{FF2B5EF4-FFF2-40B4-BE49-F238E27FC236}">
                <a16:creationId xmlns:a16="http://schemas.microsoft.com/office/drawing/2014/main" id="{E57D43E4-DF07-7260-C896-7C3F5878623A}"/>
              </a:ext>
            </a:extLst>
          </p:cNvPr>
          <p:cNvPicPr>
            <a:picLocks noChangeAspect="1"/>
          </p:cNvPicPr>
          <p:nvPr/>
        </p:nvPicPr>
        <p:blipFill>
          <a:blip r:embed="rId8"/>
          <a:stretch>
            <a:fillRect/>
          </a:stretch>
        </p:blipFill>
        <p:spPr>
          <a:xfrm>
            <a:off x="206330" y="1191368"/>
            <a:ext cx="6042225" cy="3024518"/>
          </a:xfrm>
          <a:prstGeom prst="rect">
            <a:avLst/>
          </a:prstGeom>
        </p:spPr>
      </p:pic>
      <p:pic>
        <p:nvPicPr>
          <p:cNvPr id="23" name="Picture 22">
            <a:extLst>
              <a:ext uri="{FF2B5EF4-FFF2-40B4-BE49-F238E27FC236}">
                <a16:creationId xmlns:a16="http://schemas.microsoft.com/office/drawing/2014/main" id="{EB05863A-27CD-3668-35C8-4C778E343A54}"/>
              </a:ext>
            </a:extLst>
          </p:cNvPr>
          <p:cNvPicPr>
            <a:picLocks noChangeAspect="1"/>
          </p:cNvPicPr>
          <p:nvPr/>
        </p:nvPicPr>
        <p:blipFill>
          <a:blip r:embed="rId9"/>
          <a:stretch>
            <a:fillRect/>
          </a:stretch>
        </p:blipFill>
        <p:spPr>
          <a:xfrm>
            <a:off x="6376865" y="3817814"/>
            <a:ext cx="5494153" cy="2847146"/>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1" name="Picture 20">
            <a:extLst>
              <a:ext uri="{FF2B5EF4-FFF2-40B4-BE49-F238E27FC236}">
                <a16:creationId xmlns:a16="http://schemas.microsoft.com/office/drawing/2014/main" id="{E57D43E4-DF07-7260-C896-7C3F5878623A}"/>
              </a:ext>
            </a:extLst>
          </p:cNvPr>
          <p:cNvPicPr>
            <a:picLocks noChangeAspect="1"/>
          </p:cNvPicPr>
          <p:nvPr/>
        </p:nvPicPr>
        <p:blipFill>
          <a:blip r:embed="rId3"/>
          <a:stretch>
            <a:fillRect/>
          </a:stretch>
        </p:blipFill>
        <p:spPr>
          <a:xfrm>
            <a:off x="206330" y="1191368"/>
            <a:ext cx="6042225" cy="3024518"/>
          </a:xfrm>
          <a:prstGeom prst="rect">
            <a:avLst/>
          </a:prstGeom>
        </p:spPr>
      </p:pic>
      <p:pic>
        <p:nvPicPr>
          <p:cNvPr id="23" name="Picture 22">
            <a:extLst>
              <a:ext uri="{FF2B5EF4-FFF2-40B4-BE49-F238E27FC236}">
                <a16:creationId xmlns:a16="http://schemas.microsoft.com/office/drawing/2014/main" id="{EB05863A-27CD-3668-35C8-4C778E343A54}"/>
              </a:ext>
            </a:extLst>
          </p:cNvPr>
          <p:cNvPicPr>
            <a:picLocks noChangeAspect="1"/>
          </p:cNvPicPr>
          <p:nvPr/>
        </p:nvPicPr>
        <p:blipFill>
          <a:blip r:embed="rId4"/>
          <a:stretch>
            <a:fillRect/>
          </a:stretch>
        </p:blipFill>
        <p:spPr>
          <a:xfrm>
            <a:off x="6376865" y="3817814"/>
            <a:ext cx="5494153" cy="2847146"/>
          </a:xfrm>
          <a:prstGeom prst="rect">
            <a:avLst/>
          </a:prstGeom>
        </p:spPr>
      </p:pic>
    </p:spTree>
    <p:extLst>
      <p:ext uri="{BB962C8B-B14F-4D97-AF65-F5344CB8AC3E}">
        <p14:creationId xmlns:p14="http://schemas.microsoft.com/office/powerpoint/2010/main" val="2549201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1" name="Picture 10">
            <a:extLst>
              <a:ext uri="{FF2B5EF4-FFF2-40B4-BE49-F238E27FC236}">
                <a16:creationId xmlns:a16="http://schemas.microsoft.com/office/drawing/2014/main" id="{CE16045E-0BAF-966C-7C55-8FA0254F9A93}"/>
              </a:ext>
            </a:extLst>
          </p:cNvPr>
          <p:cNvPicPr>
            <a:picLocks noChangeAspect="1"/>
          </p:cNvPicPr>
          <p:nvPr/>
        </p:nvPicPr>
        <p:blipFill>
          <a:blip r:embed="rId3"/>
          <a:stretch>
            <a:fillRect/>
          </a:stretch>
        </p:blipFill>
        <p:spPr>
          <a:xfrm>
            <a:off x="6511898" y="656315"/>
            <a:ext cx="5463397" cy="2047312"/>
          </a:xfrm>
          <a:prstGeom prst="rect">
            <a:avLst/>
          </a:prstGeom>
        </p:spPr>
      </p:pic>
      <p:pic>
        <p:nvPicPr>
          <p:cNvPr id="13" name="Picture 12">
            <a:extLst>
              <a:ext uri="{FF2B5EF4-FFF2-40B4-BE49-F238E27FC236}">
                <a16:creationId xmlns:a16="http://schemas.microsoft.com/office/drawing/2014/main" id="{5849157B-5EDE-2138-782C-56A0CE4DD85A}"/>
              </a:ext>
            </a:extLst>
          </p:cNvPr>
          <p:cNvPicPr>
            <a:picLocks noChangeAspect="1"/>
          </p:cNvPicPr>
          <p:nvPr/>
        </p:nvPicPr>
        <p:blipFill>
          <a:blip r:embed="rId4"/>
          <a:stretch>
            <a:fillRect/>
          </a:stretch>
        </p:blipFill>
        <p:spPr>
          <a:xfrm>
            <a:off x="6485259" y="370589"/>
            <a:ext cx="5463396" cy="2047311"/>
          </a:xfrm>
          <a:prstGeom prst="rect">
            <a:avLst/>
          </a:prstGeom>
        </p:spPr>
      </p:pic>
      <p:pic>
        <p:nvPicPr>
          <p:cNvPr id="15" name="Picture 14">
            <a:extLst>
              <a:ext uri="{FF2B5EF4-FFF2-40B4-BE49-F238E27FC236}">
                <a16:creationId xmlns:a16="http://schemas.microsoft.com/office/drawing/2014/main" id="{BA082D65-5402-AFF4-AED4-7638448916AC}"/>
              </a:ext>
            </a:extLst>
          </p:cNvPr>
          <p:cNvPicPr>
            <a:picLocks noChangeAspect="1"/>
          </p:cNvPicPr>
          <p:nvPr/>
        </p:nvPicPr>
        <p:blipFill>
          <a:blip r:embed="rId5"/>
          <a:stretch>
            <a:fillRect/>
          </a:stretch>
        </p:blipFill>
        <p:spPr>
          <a:xfrm>
            <a:off x="6562897" y="504784"/>
            <a:ext cx="5308121" cy="1989125"/>
          </a:xfrm>
          <a:prstGeom prst="rect">
            <a:avLst/>
          </a:prstGeom>
        </p:spPr>
      </p:pic>
      <p:pic>
        <p:nvPicPr>
          <p:cNvPr id="17" name="Picture 16">
            <a:extLst>
              <a:ext uri="{FF2B5EF4-FFF2-40B4-BE49-F238E27FC236}">
                <a16:creationId xmlns:a16="http://schemas.microsoft.com/office/drawing/2014/main" id="{520AB5B2-4834-ABAD-9C0A-EF08ADB4B5C7}"/>
              </a:ext>
            </a:extLst>
          </p:cNvPr>
          <p:cNvPicPr>
            <a:picLocks noChangeAspect="1"/>
          </p:cNvPicPr>
          <p:nvPr/>
        </p:nvPicPr>
        <p:blipFill>
          <a:blip r:embed="rId6"/>
          <a:stretch>
            <a:fillRect/>
          </a:stretch>
        </p:blipFill>
        <p:spPr>
          <a:xfrm>
            <a:off x="4527072" y="3709615"/>
            <a:ext cx="7412748" cy="2777796"/>
          </a:xfrm>
          <a:prstGeom prst="rect">
            <a:avLst/>
          </a:prstGeom>
        </p:spPr>
      </p:pic>
      <p:pic>
        <p:nvPicPr>
          <p:cNvPr id="19" name="Picture 18">
            <a:extLst>
              <a:ext uri="{FF2B5EF4-FFF2-40B4-BE49-F238E27FC236}">
                <a16:creationId xmlns:a16="http://schemas.microsoft.com/office/drawing/2014/main" id="{4E91B91A-FB50-7BE8-DEF2-9E2A801236C3}"/>
              </a:ext>
            </a:extLst>
          </p:cNvPr>
          <p:cNvPicPr>
            <a:picLocks noChangeAspect="1"/>
          </p:cNvPicPr>
          <p:nvPr/>
        </p:nvPicPr>
        <p:blipFill>
          <a:blip r:embed="rId7"/>
          <a:srcRect l="1276" t="-443" r="6298" b="4635"/>
          <a:stretch/>
        </p:blipFill>
        <p:spPr>
          <a:xfrm>
            <a:off x="163930" y="1101074"/>
            <a:ext cx="6470469" cy="2513393"/>
          </a:xfrm>
          <a:prstGeom prst="rect">
            <a:avLst/>
          </a:prstGeom>
        </p:spPr>
      </p:pic>
    </p:spTree>
    <p:extLst>
      <p:ext uri="{BB962C8B-B14F-4D97-AF65-F5344CB8AC3E}">
        <p14:creationId xmlns:p14="http://schemas.microsoft.com/office/powerpoint/2010/main" val="3756285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3" name="Picture 12">
            <a:extLst>
              <a:ext uri="{FF2B5EF4-FFF2-40B4-BE49-F238E27FC236}">
                <a16:creationId xmlns:a16="http://schemas.microsoft.com/office/drawing/2014/main" id="{5849157B-5EDE-2138-782C-56A0CE4DD85A}"/>
              </a:ext>
            </a:extLst>
          </p:cNvPr>
          <p:cNvPicPr>
            <a:picLocks noChangeAspect="1"/>
          </p:cNvPicPr>
          <p:nvPr/>
        </p:nvPicPr>
        <p:blipFill>
          <a:blip r:embed="rId3"/>
          <a:srcRect l="1052" t="4992" r="5829" b="5083"/>
          <a:stretch/>
        </p:blipFill>
        <p:spPr>
          <a:xfrm>
            <a:off x="465826" y="1337093"/>
            <a:ext cx="6788989" cy="2441277"/>
          </a:xfrm>
          <a:prstGeom prst="rect">
            <a:avLst/>
          </a:prstGeom>
        </p:spPr>
      </p:pic>
      <p:pic>
        <p:nvPicPr>
          <p:cNvPr id="15" name="Picture 14">
            <a:extLst>
              <a:ext uri="{FF2B5EF4-FFF2-40B4-BE49-F238E27FC236}">
                <a16:creationId xmlns:a16="http://schemas.microsoft.com/office/drawing/2014/main" id="{BA082D65-5402-AFF4-AED4-7638448916AC}"/>
              </a:ext>
            </a:extLst>
          </p:cNvPr>
          <p:cNvPicPr>
            <a:picLocks noChangeAspect="1"/>
          </p:cNvPicPr>
          <p:nvPr/>
        </p:nvPicPr>
        <p:blipFill>
          <a:blip r:embed="rId4"/>
          <a:srcRect l="1155" t="4083" b="3071"/>
          <a:stretch/>
        </p:blipFill>
        <p:spPr>
          <a:xfrm>
            <a:off x="4735902" y="3898592"/>
            <a:ext cx="7135115" cy="2511504"/>
          </a:xfrm>
          <a:prstGeom prst="rect">
            <a:avLst/>
          </a:prstGeom>
        </p:spPr>
      </p:pic>
    </p:spTree>
    <p:extLst>
      <p:ext uri="{BB962C8B-B14F-4D97-AF65-F5344CB8AC3E}">
        <p14:creationId xmlns:p14="http://schemas.microsoft.com/office/powerpoint/2010/main" val="183008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CE16045E-0BAF-966C-7C55-8FA0254F9A93}"/>
              </a:ext>
            </a:extLst>
          </p:cNvPr>
          <p:cNvPicPr>
            <a:picLocks noChangeAspect="1"/>
          </p:cNvPicPr>
          <p:nvPr/>
        </p:nvPicPr>
        <p:blipFill>
          <a:blip r:embed="rId3"/>
          <a:stretch>
            <a:fillRect/>
          </a:stretch>
        </p:blipFill>
        <p:spPr>
          <a:xfrm>
            <a:off x="675957" y="1389559"/>
            <a:ext cx="9697136" cy="3633831"/>
          </a:xfrm>
          <a:prstGeom prst="rect">
            <a:avLst/>
          </a:prstGeom>
        </p:spPr>
      </p:pic>
    </p:spTree>
    <p:extLst>
      <p:ext uri="{BB962C8B-B14F-4D97-AF65-F5344CB8AC3E}">
        <p14:creationId xmlns:p14="http://schemas.microsoft.com/office/powerpoint/2010/main" val="3091797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6" y="370589"/>
            <a:ext cx="6018141" cy="830997"/>
          </a:xfrm>
        </p:spPr>
        <p:txBody>
          <a:bodyPr>
            <a:normAutofit fontScale="90000"/>
          </a:bodyPr>
          <a:lstStyle/>
          <a:p>
            <a:r>
              <a:rPr lang="en-GB" dirty="0"/>
              <a:t>Links for the project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84A05F9F-F569-7288-3E06-EEA8B9BB9987}"/>
              </a:ext>
            </a:extLst>
          </p:cNvPr>
          <p:cNvSpPr txBox="1"/>
          <p:nvPr/>
        </p:nvSpPr>
        <p:spPr>
          <a:xfrm>
            <a:off x="940279" y="2216989"/>
            <a:ext cx="8842076" cy="1733909"/>
          </a:xfrm>
          <a:prstGeom prst="rect">
            <a:avLst/>
          </a:prstGeom>
          <a:noFill/>
        </p:spPr>
        <p:txBody>
          <a:bodyPr wrap="square" rtlCol="0">
            <a:spAutoFit/>
          </a:bodyPr>
          <a:lstStyle/>
          <a:p>
            <a:endParaRPr lang="en-IN"/>
          </a:p>
        </p:txBody>
      </p:sp>
    </p:spTree>
    <p:extLst>
      <p:ext uri="{BB962C8B-B14F-4D97-AF65-F5344CB8AC3E}">
        <p14:creationId xmlns:p14="http://schemas.microsoft.com/office/powerpoint/2010/main" val="3167820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575</TotalTime>
  <Words>358</Words>
  <Application>Microsoft Office PowerPoint</Application>
  <PresentationFormat>Widescreen</PresentationFormat>
  <Paragraphs>31</Paragraphs>
  <Slides>12</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Arial Unicode MS</vt:lpstr>
      <vt:lpstr>Calibri</vt:lpstr>
      <vt:lpstr>Trebuchet MS</vt:lpstr>
      <vt:lpstr>Wingdings</vt:lpstr>
      <vt:lpstr>Wingdings 3</vt:lpstr>
      <vt:lpstr>Facet</vt:lpstr>
      <vt:lpstr>Doctor Visit Analytics</vt:lpstr>
      <vt:lpstr>PROBLEM  STATEMENT</vt:lpstr>
      <vt:lpstr>Project Description  </vt:lpstr>
      <vt:lpstr>WHO ARE THE END USERS?</vt:lpstr>
      <vt:lpstr>Technology Used</vt:lpstr>
      <vt:lpstr>RESULTS </vt:lpstr>
      <vt:lpstr>RESULTS </vt:lpstr>
      <vt:lpstr>RESULTS </vt:lpstr>
      <vt:lpstr>RESULTS </vt:lpstr>
      <vt:lpstr>RESULTS </vt:lpstr>
      <vt:lpstr>Links for the project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Ayush Kumar</cp:lastModifiedBy>
  <cp:revision>74</cp:revision>
  <dcterms:created xsi:type="dcterms:W3CDTF">2021-07-11T13:13:15Z</dcterms:created>
  <dcterms:modified xsi:type="dcterms:W3CDTF">2026-09-18T01:35:36Z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